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Risk</c:v>
                </c:pt>
              </c:strCache>
            </c:strRef>
          </c:tx>
          <c:spPr>
            <a:solidFill>
              <a:srgbClr val="E8531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31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HR</c:v>
                  </c:pt>
                  <c:pt idx="1">
                    <c:v>Engineering</c:v>
                  </c:pt>
                  <c:pt idx="2">
                    <c:v>Operations</c:v>
                  </c:pt>
                  <c:pt idx="3">
                    <c:v>Sales</c:v>
                  </c:pt>
                  <c:pt idx="4">
                    <c:v>Marketing</c:v>
                  </c:pt>
                  <c:pt idx="5">
                    <c:v>Finance</c:v>
                  </c:pt>
                  <c:pt idx="6">
                    <c:v>Legal</c:v>
                  </c:pt>
                  <c:pt idx="7">
                    <c:v>Product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54.04</c:v>
                </c:pt>
                <c:pt idx="1">
                  <c:v>53.82</c:v>
                </c:pt>
                <c:pt idx="2">
                  <c:v>53.82</c:v>
                </c:pt>
                <c:pt idx="3">
                  <c:v>53.75</c:v>
                </c:pt>
                <c:pt idx="4">
                  <c:v>53.74</c:v>
                </c:pt>
                <c:pt idx="5">
                  <c:v>53.67</c:v>
                </c:pt>
                <c:pt idx="6">
                  <c:v>53.48</c:v>
                </c:pt>
                <c:pt idx="7">
                  <c:v>53.46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4F0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4.2"/>
          <c:min val="53"/>
        </c:scaling>
        <c:delete val="0"/>
        <c:axPos val="l"/>
        <c:majorGridlines>
          <c:spPr>
            <a:ln w="12700" cap="flat">
              <a:solidFill>
                <a:srgbClr val="E1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Pay vs. Market (%) vs. Attrition Risk, by Department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Finance</c:v>
                </c:pt>
              </c:strCache>
            </c:strRef>
          </c:tx>
          <c:spPr>
            <a:solidFill>
              <a:srgbClr val="E8531D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E8531D"/>
              </a:solidFill>
              <a:ln w="9525" cap="flat">
                <a:solidFill>
                  <a:srgbClr val="E8531D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[object Object]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[object Object]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HR</c:v>
                </c:pt>
              </c:strCache>
            </c:strRef>
          </c:tx>
          <c:spPr>
            <a:solidFill>
              <a:srgbClr val="1E2761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[object Object]</c:v>
                </c:pt>
              </c:numCache>
            </c:numRef>
          </c:xVal>
          <c:yVal>
            <c:numRef>
              <c:f>Sheet1!$C$2:$C$2</c:f>
              <c:numCache>
                <c:formatCode>General</c:formatCode>
                <c:ptCount val="1"/>
                <c:pt idx="0">
                  <c:v>[object Object]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Legal</c:v>
                </c:pt>
              </c:strCache>
            </c:strRef>
          </c:tx>
          <c:spPr>
            <a:solidFill>
              <a:srgbClr val="5C6280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5C6280"/>
              </a:solidFill>
              <a:ln w="9525" cap="flat">
                <a:solidFill>
                  <a:srgbClr val="5C6280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[object Object]</c:v>
                </c:pt>
              </c:numCache>
            </c:numRef>
          </c:xVal>
          <c:yVal>
            <c:numRef>
              <c:f>Sheet1!$D$2:$D$2</c:f>
              <c:numCache>
                <c:formatCode>General</c:formatCode>
                <c:ptCount val="1"/>
                <c:pt idx="0">
                  <c:v>[object Object]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Marketing</c:v>
                </c:pt>
              </c:strCache>
            </c:strRef>
          </c:tx>
          <c:spPr>
            <a:solidFill>
              <a:srgbClr val="8894C9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8894C9"/>
              </a:solidFill>
              <a:ln w="9525" cap="flat">
                <a:solidFill>
                  <a:srgbClr val="8894C9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[object Object]</c:v>
                </c:pt>
              </c:numCache>
            </c:numRef>
          </c:xVal>
          <c:yVal>
            <c:numRef>
              <c:f>Sheet1!$E$2:$E$2</c:f>
              <c:numCache>
                <c:formatCode>General</c:formatCode>
                <c:ptCount val="1"/>
                <c:pt idx="0">
                  <c:v>[object Object]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Operations</c:v>
                </c:pt>
              </c:strCache>
            </c:strRef>
          </c:tx>
          <c:spPr>
            <a:solidFill>
              <a:srgbClr val="C1546B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C1546B"/>
              </a:solidFill>
              <a:ln w="9525" cap="flat">
                <a:solidFill>
                  <a:srgbClr val="C1546B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[object Object]</c:v>
                </c:pt>
              </c:numCache>
            </c:numRef>
          </c:xVal>
          <c:yVal>
            <c:numRef>
              <c:f>Sheet1!$F$2:$F$2</c:f>
              <c:numCache>
                <c:formatCode>General</c:formatCode>
                <c:ptCount val="1"/>
                <c:pt idx="0">
                  <c:v>[object Object]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Product</c:v>
                </c:pt>
              </c:strCache>
            </c:strRef>
          </c:tx>
          <c:spPr>
            <a:solidFill>
              <a:srgbClr val="3B4380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3B4380"/>
              </a:solidFill>
              <a:ln w="9525" cap="flat">
                <a:solidFill>
                  <a:srgbClr val="3B4380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[object Object]</c:v>
                </c:pt>
              </c:numCache>
            </c:numRef>
          </c:xVal>
          <c:yVal>
            <c:numRef>
              <c:f>Sheet1!$G$2:$G$2</c:f>
              <c:numCache>
                <c:formatCode>General</c:formatCode>
                <c:ptCount val="1"/>
                <c:pt idx="0">
                  <c:v>[object Object]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9AA0BE"/>
            </a:solidFill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9AA0BE"/>
              </a:solidFill>
              <a:ln w="9525" cap="flat">
                <a:solidFill>
                  <a:srgbClr val="9AA0BE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[object Object]</c:v>
                </c:pt>
              </c:numCache>
            </c:numRef>
          </c:xVal>
          <c:yVal>
            <c:numRef>
              <c:f>Sheet1!$H$2:$H$2</c:f>
              <c:numCache>
                <c:formatCode>General</c:formatCode>
                <c:ptCount val="1"/>
                <c:pt idx="0">
                  <c:v>[object Object]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1E4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280"/>
                    </a:solidFill>
                    <a:latin typeface="Arial"/>
                  </a:rPr>
                  <a:t>Pay vs. Market (%)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4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280"/>
                    </a:solidFill>
                    <a:latin typeface="Arial"/>
                  </a:rPr>
                  <a:t>Attrition Risk Score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628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2B3574"/>
          </a:solidFill>
          <a:ln/>
        </p:spPr>
      </p:sp>
      <p:pic>
        <p:nvPicPr>
          <p:cNvPr id="5" name="Image 0" descr="/home/claude/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788670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HIRE-TO-RETIRE PEOPLE ANALYTICS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1792" y="19659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Workforce Turnaround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Attrition Crisis Through Data-Driven HR Insights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12700">
            <a:solidFill>
              <a:srgbClr val="3B43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61081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Master  ·  Recruitment  ·  Performance  ·  Lifecycle &amp; Retention  ·  Monthly Pulse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92640" y="61081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FY2018 – FY2026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58368" cy="658368"/>
          </a:xfrm>
          <a:prstGeom prst="ellipse">
            <a:avLst/>
          </a:prstGeom>
          <a:solidFill>
            <a:srgbClr val="2B3574"/>
          </a:solidFill>
          <a:ln/>
        </p:spPr>
      </p:sp>
      <p:pic>
        <p:nvPicPr>
          <p:cNvPr id="3" name="Image 0" descr="/home/claude/icons/userSlash_E8531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696773"/>
            <a:ext cx="362102" cy="36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6583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E85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58.4% </a:t>
            </a:r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our workforce has walked out the door.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is now the single biggest threat to operational continuity. Nearly six in ten employees hired since 2018 have already resigned or been terminated — and the data shows exactly where, and why.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443484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161C4D"/>
          </a:solidFill>
          <a:ln w="12700">
            <a:solidFill>
              <a:srgbClr val="34397A"/>
            </a:solidFill>
            <a:prstDash val="solid"/>
          </a:ln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pic>
        <p:nvPicPr>
          <p:cNvPr id="8" name="Image 1" descr="/home/claude/icons/userSlash_E8531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469087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" y="5148072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58.4%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96112" y="5641848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43400" y="443484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161C4D"/>
          </a:solidFill>
          <a:ln w="12700">
            <a:solidFill>
              <a:srgbClr val="34397A"/>
            </a:solidFill>
            <a:prstDash val="solid"/>
          </a:ln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pic>
        <p:nvPicPr>
          <p:cNvPr id="12" name="Image 2" descr="/home/claude/icons/hourglassHalf_E8531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4690872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9432" y="5148072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22.3 mo</a:t>
            </a:r>
            <a:endParaRPr lang="en-US" sz="2600" dirty="0"/>
          </a:p>
        </p:txBody>
      </p:sp>
      <p:sp>
        <p:nvSpPr>
          <p:cNvPr id="14" name="Text 9"/>
          <p:cNvSpPr/>
          <p:nvPr/>
        </p:nvSpPr>
        <p:spPr>
          <a:xfrm>
            <a:off x="4599432" y="5641848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Tenure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046720" y="443484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161C4D"/>
          </a:solidFill>
          <a:ln w="12700">
            <a:solidFill>
              <a:srgbClr val="34397A"/>
            </a:solidFill>
            <a:prstDash val="solid"/>
          </a:ln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pic>
        <p:nvPicPr>
          <p:cNvPr id="16" name="Image 3" descr="/home/claude/icons/chartColumn_E8531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4690872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02752" y="5148072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95.8 days</a:t>
            </a:r>
            <a:endParaRPr lang="en-US" sz="2600" dirty="0"/>
          </a:p>
        </p:txBody>
      </p:sp>
      <p:sp>
        <p:nvSpPr>
          <p:cNvPr id="18" name="Text 12"/>
          <p:cNvSpPr/>
          <p:nvPr/>
        </p:nvSpPr>
        <p:spPr>
          <a:xfrm>
            <a:off x="8302752" y="5641848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Time to Fill a Role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Workforce Turnaround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is shifting from “Reactive” to “Predictive” people management.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6187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ADT's HR model stands today versus the 2026 industry standard.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11480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2062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“Old” Way (Today)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“2026” Way (Target)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31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after employees resign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flight risk before it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Siloed spreadsheets, one per department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hire-to-retire analytics 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Quality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Gut-feel performance reviews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Effect Scores tracked systematically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Compensation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Annual, backward-looking pay reviews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benchmarking vs. market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the seat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 the right people, sustainably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Workforce Turnaround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EDEFFA"/>
          </a:solidFill>
          <a:ln/>
        </p:spPr>
      </p:sp>
      <p:pic>
        <p:nvPicPr>
          <p:cNvPr id="3" name="Image 0" descr="/home/claude/icons/userGear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58064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48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7 employees reports to a “bad manager” — and it shows.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3,707 employees (14.8% of the workforce) are managed by someone flagged as a below-benchmark performer. The retention gap is stark: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DEEE8"/>
          </a:solidFill>
          <a:ln/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33172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E8531D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651760"/>
            <a:ext cx="5349240" cy="320040"/>
          </a:xfrm>
          <a:prstGeom prst="rect">
            <a:avLst/>
          </a:prstGeom>
          <a:solidFill>
            <a:srgbClr val="E8531D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3317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Bad Managers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32004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Rate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349300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68.0%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822960" y="4005072"/>
            <a:ext cx="4800600" cy="0"/>
          </a:xfrm>
          <a:prstGeom prst="line">
            <a:avLst/>
          </a:prstGeom>
          <a:noFill/>
          <a:ln w="12700">
            <a:solidFill>
              <a:srgbClr val="E1E4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0690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Tenure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436168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18.4 months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822960" y="4873752"/>
            <a:ext cx="4800600" cy="0"/>
          </a:xfrm>
          <a:prstGeom prst="line">
            <a:avLst/>
          </a:prstGeom>
          <a:noFill/>
          <a:ln w="12700">
            <a:solidFill>
              <a:srgbClr val="E1E4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9377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Risk Score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" y="523036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59.6 / 100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6355080" y="23317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EDEFFA"/>
          </a:solidFill>
          <a:ln/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55080" y="233172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21" name="Shape 18"/>
          <p:cNvSpPr/>
          <p:nvPr/>
        </p:nvSpPr>
        <p:spPr>
          <a:xfrm>
            <a:off x="6355080" y="2651760"/>
            <a:ext cx="53492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6629400" y="23317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Strong Managers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629400" y="32004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Rate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629400" y="349300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56.7%</a:t>
            </a:r>
            <a:endParaRPr lang="en-US" sz="2600" dirty="0"/>
          </a:p>
        </p:txBody>
      </p:sp>
      <p:sp>
        <p:nvSpPr>
          <p:cNvPr id="25" name="Shape 22"/>
          <p:cNvSpPr/>
          <p:nvPr/>
        </p:nvSpPr>
        <p:spPr>
          <a:xfrm>
            <a:off x="6629400" y="4005072"/>
            <a:ext cx="4800600" cy="0"/>
          </a:xfrm>
          <a:prstGeom prst="line">
            <a:avLst/>
          </a:prstGeom>
          <a:noFill/>
          <a:ln w="12700">
            <a:solidFill>
              <a:srgbClr val="E1E4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29400" y="40690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Tenure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629400" y="436168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23.0 months</a:t>
            </a:r>
            <a:endParaRPr lang="en-US" sz="2600" dirty="0"/>
          </a:p>
        </p:txBody>
      </p:sp>
      <p:sp>
        <p:nvSpPr>
          <p:cNvPr id="28" name="Shape 25"/>
          <p:cNvSpPr/>
          <p:nvPr/>
        </p:nvSpPr>
        <p:spPr>
          <a:xfrm>
            <a:off x="6629400" y="4873752"/>
            <a:ext cx="4800600" cy="0"/>
          </a:xfrm>
          <a:prstGeom prst="line">
            <a:avLst/>
          </a:prstGeom>
          <a:noFill/>
          <a:ln w="12700">
            <a:solidFill>
              <a:srgbClr val="E1E4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29400" y="49377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Risk Score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629400" y="523036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52.7 / 100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Workforce Turnaround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and Operations carry the highest flight-risk exposure.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Attrition Risk Score by department (0–100 scale).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572768"/>
            <a:ext cx="7178040" cy="4828032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09560" y="1645920"/>
            <a:ext cx="370332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pic>
        <p:nvPicPr>
          <p:cNvPr id="7" name="Image 0" descr="/home/claude/icons/triangleExclamation_E8531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187452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83880" y="2395728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54.04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8183880" y="30175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HR's own attrition risk score is the highest in the company — the function tasked with fixing turnover is itself the most exposed.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909560" y="3977640"/>
            <a:ext cx="37033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183880" y="41605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 the chart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183880" y="4480560"/>
            <a:ext cx="31546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broadly distributed — every department sits within a tight 0.6-point band. This is a systemic issue (pay, management quality), not a single department's problem.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Workforce Turnaround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EDEFFA"/>
          </a:solidFill>
          <a:ln/>
        </p:spPr>
      </p:sp>
      <p:pic>
        <p:nvPicPr>
          <p:cNvPr id="3" name="Image 0" descr="/home/claude/icons/moneyBillTrendUp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58064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48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Underpaying against market is the strongest single predictor of attrition risk.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3200400" cy="4297680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1488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-0.60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pay-vs-market and attrition risk, at the individual employee level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3977640"/>
            <a:ext cx="2697480" cy="0"/>
          </a:xfrm>
          <a:prstGeom prst="line">
            <a:avLst/>
          </a:prstGeom>
          <a:noFill/>
          <a:ln w="12700">
            <a:solidFill>
              <a:srgbClr val="3439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160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+6.0%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7091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pay vs. market across the company — but the gap varies sharply by department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931920" y="1874520"/>
            <a:ext cx="768096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graphicFrame>
        <p:nvGraphicFramePr>
          <p:cNvPr id="13" name="Chart 0" descr=""/>
          <p:cNvGraphicFramePr/>
          <p:nvPr/>
        </p:nvGraphicFramePr>
        <p:xfrm>
          <a:off x="4114800" y="2011680"/>
          <a:ext cx="7406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Workforce Turnaround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Two-thirds of exits are preventable — better offers and disengagement lead the list.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drivers behind 14,592 employee exits.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874520"/>
            <a:ext cx="809244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— Better Offer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432304"/>
            <a:ext cx="7543800" cy="566928"/>
          </a:xfrm>
          <a:prstGeom prst="roundRect">
            <a:avLst>
              <a:gd name="adj" fmla="val 6452"/>
            </a:avLst>
          </a:prstGeom>
          <a:solidFill>
            <a:srgbClr val="E4E7F5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432304"/>
            <a:ext cx="7543800" cy="566928"/>
          </a:xfrm>
          <a:prstGeom prst="roundRect">
            <a:avLst>
              <a:gd name="adj" fmla="val 6452"/>
            </a:avLst>
          </a:prstGeom>
          <a:solidFill>
            <a:srgbClr val="E8531D"/>
          </a:solidFill>
          <a:ln/>
        </p:spPr>
      </p:sp>
      <p:sp>
        <p:nvSpPr>
          <p:cNvPr id="8" name="Text 6"/>
          <p:cNvSpPr/>
          <p:nvPr/>
        </p:nvSpPr>
        <p:spPr>
          <a:xfrm>
            <a:off x="8366760" y="2432304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34.7%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9992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— Personal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328416"/>
            <a:ext cx="7543800" cy="566928"/>
          </a:xfrm>
          <a:prstGeom prst="roundRect">
            <a:avLst>
              <a:gd name="adj" fmla="val 6452"/>
            </a:avLst>
          </a:prstGeom>
          <a:solidFill>
            <a:srgbClr val="E4E7F5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3328416"/>
            <a:ext cx="6217656" cy="566928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616" y="3328416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28.6%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38953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— Low Engagement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224528"/>
            <a:ext cx="7543800" cy="566928"/>
          </a:xfrm>
          <a:prstGeom prst="roundRect">
            <a:avLst>
              <a:gd name="adj" fmla="val 6452"/>
            </a:avLst>
          </a:prstGeom>
          <a:solidFill>
            <a:srgbClr val="E4E7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4224528"/>
            <a:ext cx="6087216" cy="566928"/>
          </a:xfrm>
          <a:prstGeom prst="roundRect">
            <a:avLst>
              <a:gd name="adj" fmla="val 6452"/>
            </a:avLst>
          </a:prstGeom>
          <a:solidFill>
            <a:srgbClr val="4A5296"/>
          </a:solidFill>
          <a:ln/>
        </p:spPr>
      </p:sp>
      <p:sp>
        <p:nvSpPr>
          <p:cNvPr id="16" name="Text 14"/>
          <p:cNvSpPr/>
          <p:nvPr/>
        </p:nvSpPr>
        <p:spPr>
          <a:xfrm>
            <a:off x="6910176" y="422452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47914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Involuntary — Restructure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5120640"/>
            <a:ext cx="7543800" cy="566928"/>
          </a:xfrm>
          <a:prstGeom prst="roundRect">
            <a:avLst>
              <a:gd name="adj" fmla="val 6452"/>
            </a:avLst>
          </a:prstGeom>
          <a:solidFill>
            <a:srgbClr val="E4E7F5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5120640"/>
            <a:ext cx="1456584" cy="566928"/>
          </a:xfrm>
          <a:prstGeom prst="roundRect">
            <a:avLst>
              <a:gd name="adj" fmla="val 6452"/>
            </a:avLst>
          </a:prstGeom>
          <a:solidFill>
            <a:srgbClr val="9AA0BE"/>
          </a:solidFill>
          <a:ln/>
        </p:spPr>
      </p:sp>
      <p:sp>
        <p:nvSpPr>
          <p:cNvPr id="20" name="Text 18"/>
          <p:cNvSpPr/>
          <p:nvPr/>
        </p:nvSpPr>
        <p:spPr>
          <a:xfrm>
            <a:off x="2279544" y="512064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56875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Involuntary — Performance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6016752"/>
            <a:ext cx="7543800" cy="566928"/>
          </a:xfrm>
          <a:prstGeom prst="roundRect">
            <a:avLst>
              <a:gd name="adj" fmla="val 6452"/>
            </a:avLst>
          </a:prstGeom>
          <a:solidFill>
            <a:srgbClr val="E4E7F5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6016752"/>
            <a:ext cx="457200" cy="566928"/>
          </a:xfrm>
          <a:prstGeom prst="roundRect">
            <a:avLst>
              <a:gd name="adj" fmla="val 8000"/>
            </a:avLst>
          </a:prstGeom>
          <a:solidFill>
            <a:srgbClr val="C7CBE6"/>
          </a:solidFill>
          <a:ln/>
        </p:spPr>
      </p:sp>
      <p:sp>
        <p:nvSpPr>
          <p:cNvPr id="24" name="Text 22"/>
          <p:cNvSpPr/>
          <p:nvPr/>
        </p:nvSpPr>
        <p:spPr>
          <a:xfrm>
            <a:off x="1280160" y="6016752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778240" y="1874520"/>
            <a:ext cx="2834640" cy="4663440"/>
          </a:xfrm>
          <a:prstGeom prst="roundRect">
            <a:avLst>
              <a:gd name="adj" fmla="val 258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pic>
        <p:nvPicPr>
          <p:cNvPr id="26" name="Image 0" descr="/home/claude/icons/doorOpen_E8531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103120"/>
            <a:ext cx="457200" cy="4572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05256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91.2%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9052560" y="3227832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exits are voluntary — people are choosing to leave, not being managed out.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052560" y="4206240"/>
            <a:ext cx="2286000" cy="0"/>
          </a:xfrm>
          <a:prstGeom prst="line">
            <a:avLst/>
          </a:prstGeom>
          <a:noFill/>
          <a:ln w="12700">
            <a:solidFill>
              <a:srgbClr val="34397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052560" y="4389120"/>
            <a:ext cx="2286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offers and low engagement together account for 62.7% of exits — both are directly addressable through pay and manager quality.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Workforce Turnaround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EDEFFA"/>
          </a:solidFill>
          <a:ln/>
        </p:spPr>
      </p:sp>
      <p:pic>
        <p:nvPicPr>
          <p:cNvPr id="3" name="Image 0" descr="/home/claude/icons/hourglassHalf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58064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 VELOCITY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takes 96 days to fill a role — nearly double a healthy benchmark.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costly hiring compounds the retention problem — vacant seats sit open while the people covering them burn out.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3502152" cy="3566160"/>
          </a:xfrm>
          <a:prstGeom prst="roundRect">
            <a:avLst>
              <a:gd name="adj" fmla="val 20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pic>
        <p:nvPicPr>
          <p:cNvPr id="8" name="Image 1" descr="/home/claude/icons/hourglassHalf_E8531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3464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3474720"/>
            <a:ext cx="2953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95.8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822960" y="4297680"/>
            <a:ext cx="2953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Days to Fill a Role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22960" y="4937760"/>
            <a:ext cx="2953512" cy="0"/>
          </a:xfrm>
          <a:prstGeom prst="line">
            <a:avLst/>
          </a:prstGeom>
          <a:noFill/>
          <a:ln w="12700">
            <a:solidFill>
              <a:srgbClr val="34397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" y="5074920"/>
            <a:ext cx="2953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~45-day industry benchmark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25112" y="2514600"/>
            <a:ext cx="3502152" cy="356616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pic>
        <p:nvPicPr>
          <p:cNvPr id="14" name="Image 2" descr="/home/claude/icons/moneyBillTrendUp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28346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99432" y="3474720"/>
            <a:ext cx="2953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$72.2K</a:t>
            </a:r>
            <a:endParaRPr lang="en-US" sz="3400" dirty="0"/>
          </a:p>
        </p:txBody>
      </p:sp>
      <p:sp>
        <p:nvSpPr>
          <p:cNvPr id="16" name="Text 11"/>
          <p:cNvSpPr/>
          <p:nvPr/>
        </p:nvSpPr>
        <p:spPr>
          <a:xfrm>
            <a:off x="4599432" y="4297680"/>
            <a:ext cx="2953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Acquisition Cost per Hire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599432" y="4937760"/>
            <a:ext cx="2953512" cy="0"/>
          </a:xfrm>
          <a:prstGeom prst="line">
            <a:avLst/>
          </a:prstGeom>
          <a:noFill/>
          <a:ln w="12700">
            <a:solidFill>
              <a:srgbClr val="E1E4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599432" y="5074920"/>
            <a:ext cx="2953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+ agency + internal cost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101584" y="2514600"/>
            <a:ext cx="3502152" cy="356616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pic>
        <p:nvPicPr>
          <p:cNvPr id="20" name="Image 3" descr="/home/claude/icons/chartColumn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283464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75904" y="3474720"/>
            <a:ext cx="2953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$1.72B</a:t>
            </a:r>
            <a:endParaRPr lang="en-US" sz="3400" dirty="0"/>
          </a:p>
        </p:txBody>
      </p:sp>
      <p:sp>
        <p:nvSpPr>
          <p:cNvPr id="22" name="Text 16"/>
          <p:cNvSpPr/>
          <p:nvPr/>
        </p:nvSpPr>
        <p:spPr>
          <a:xfrm>
            <a:off x="8375904" y="4297680"/>
            <a:ext cx="2953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of Vacancy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8375904" y="4937760"/>
            <a:ext cx="2953512" cy="0"/>
          </a:xfrm>
          <a:prstGeom prst="line">
            <a:avLst/>
          </a:prstGeom>
          <a:noFill/>
          <a:ln w="12700">
            <a:solidFill>
              <a:srgbClr val="E1E4F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375904" y="5074920"/>
            <a:ext cx="2953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filled requisitions to date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Workforce Turnaround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—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click traces 58.37% attrition back to its source.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086600" cy="4139343"/>
          </a:xfrm>
          <a:prstGeom prst="roundRect">
            <a:avLst>
              <a:gd name="adj" fmla="val 1325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141833">
                <a:alpha val="22000"/>
              </a:srgbClr>
            </a:outerShdw>
          </a:effectLst>
        </p:spPr>
      </p:sp>
      <p:pic>
        <p:nvPicPr>
          <p:cNvPr id="5" name="Image 0" descr="/home/claude/dash2/d_over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29968"/>
            <a:ext cx="6684264" cy="37370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1828800"/>
            <a:ext cx="3611880" cy="4139343"/>
          </a:xfrm>
          <a:prstGeom prst="roundRect">
            <a:avLst>
              <a:gd name="adj" fmla="val 202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93608" y="2121408"/>
            <a:ext cx="3026664" cy="2904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Overview page lets leadership drill from a single company-wide number into engagement trends, department KPIs, and age distribution in seconds. Employees aged 22–40 make up roughly two-thirds of the workforce — the most mobile, most flight-risk segment of all.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93608" y="5099463"/>
            <a:ext cx="3026664" cy="0"/>
          </a:xfrm>
          <a:prstGeom prst="line">
            <a:avLst/>
          </a:prstGeom>
          <a:noFill/>
          <a:ln w="12700">
            <a:solidFill>
              <a:srgbClr val="3439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93608" y="5218335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5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93608" y="5602383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are under age 40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Workforce Turnaround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— PULSE &amp; ENGAGEMENT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cratered in 2018 and has flatlined ever since.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26280" y="1828800"/>
            <a:ext cx="7086600" cy="4134288"/>
          </a:xfrm>
          <a:prstGeom prst="roundRect">
            <a:avLst>
              <a:gd name="adj" fmla="val 1327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141833">
                <a:alpha val="22000"/>
              </a:srgbClr>
            </a:outerShdw>
          </a:effectLst>
        </p:spPr>
      </p:sp>
      <p:pic>
        <p:nvPicPr>
          <p:cNvPr id="5" name="Image 0" descr="/home/claude/dash2/d_pul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7448" y="2029968"/>
            <a:ext cx="6684264" cy="37319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28800"/>
            <a:ext cx="3611880" cy="4134288"/>
          </a:xfrm>
          <a:prstGeom prst="roundRect">
            <a:avLst>
              <a:gd name="adj" fmla="val 202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" y="2121408"/>
            <a:ext cx="3026664" cy="289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workforce (50.4%) now sits in the High Culture Band, but Engineering and HR post the lowest sentiment scores of any function — the same two teams already flagged as highest flight-risk in the retention analysis.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41248" y="5094408"/>
            <a:ext cx="3026664" cy="0"/>
          </a:xfrm>
          <a:prstGeom prst="line">
            <a:avLst/>
          </a:prstGeom>
          <a:noFill/>
          <a:ln w="12700">
            <a:solidFill>
              <a:srgbClr val="3439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5213280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5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70.34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41248" y="5597328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pulse score, essentially unchanged since 2019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Workforce Turnaround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—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acquisition is the weakest link in the performance story.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086600" cy="4145753"/>
          </a:xfrm>
          <a:prstGeom prst="roundRect">
            <a:avLst>
              <a:gd name="adj" fmla="val 1323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141833">
                <a:alpha val="22000"/>
              </a:srgbClr>
            </a:outerShdw>
          </a:effectLst>
        </p:spPr>
      </p:sp>
      <p:pic>
        <p:nvPicPr>
          <p:cNvPr id="5" name="Image 0" descr="/home/claude/dash2/d_performa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29968"/>
            <a:ext cx="6684264" cy="374341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1828800"/>
            <a:ext cx="3611880" cy="4145753"/>
          </a:xfrm>
          <a:prstGeom prst="roundRect">
            <a:avLst>
              <a:gd name="adj" fmla="val 202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93608" y="2121408"/>
            <a:ext cx="3026664" cy="2911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Achievement (72.6%) and Quality of Work (68.7%) are respectable, but Skill Acquisition trails at just 65.3% — even in Legal and Product, the two strongest-performing departments. Growth investment isn't keeping pace with output.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93608" y="5105873"/>
            <a:ext cx="3026664" cy="0"/>
          </a:xfrm>
          <a:prstGeom prst="line">
            <a:avLst/>
          </a:prstGeom>
          <a:noFill/>
          <a:ln w="12700">
            <a:solidFill>
              <a:srgbClr val="3439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93608" y="5224745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5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65.3%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93608" y="5608793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skill acquisition — the lowest of the three metrics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Workforce Turnaround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— RECRUITMENT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 hires cost far more than every other channel — with no quality premium.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26280" y="1828800"/>
            <a:ext cx="7086600" cy="4172652"/>
          </a:xfrm>
          <a:prstGeom prst="roundRect">
            <a:avLst>
              <a:gd name="adj" fmla="val 1315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141833">
                <a:alpha val="22000"/>
              </a:srgbClr>
            </a:outerShdw>
          </a:effectLst>
        </p:spPr>
      </p:sp>
      <p:pic>
        <p:nvPicPr>
          <p:cNvPr id="5" name="Image 0" descr="/home/claude/dash2/d_recruitm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7448" y="2029968"/>
            <a:ext cx="6684264" cy="37703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28800"/>
            <a:ext cx="3611880" cy="4172652"/>
          </a:xfrm>
          <a:prstGeom prst="roundRect">
            <a:avLst>
              <a:gd name="adj" fmla="val 202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" y="2121408"/>
            <a:ext cx="3026664" cy="2938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$81K per hire, Agency is the most expensive sourcing channel, while Internal Transfer costs just $69K for a comparable outcome. Hiring velocity has also crept up through the year, climbing from 88 days in January toward a peak near 96.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41248" y="5132772"/>
            <a:ext cx="3026664" cy="0"/>
          </a:xfrm>
          <a:prstGeom prst="line">
            <a:avLst/>
          </a:prstGeom>
          <a:noFill/>
          <a:ln w="12700">
            <a:solidFill>
              <a:srgbClr val="3439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5251644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5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$81K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41248" y="563569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cost per Agency hire vs. $69–71K elsewhere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Workforce Turnaround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— LIFECYCLE &amp; RETENTION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 confirms it: a systemic, company-wide retention problem.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086600" cy="4177654"/>
          </a:xfrm>
          <a:prstGeom prst="roundRect">
            <a:avLst>
              <a:gd name="adj" fmla="val 1313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127000" dist="38100" dir="5400000">
              <a:srgbClr val="141833">
                <a:alpha val="22000"/>
              </a:srgbClr>
            </a:outerShdw>
          </a:effectLst>
        </p:spPr>
      </p:sp>
      <p:pic>
        <p:nvPicPr>
          <p:cNvPr id="5" name="Image 0" descr="/home/claude/dash2/d_lifecyc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29968"/>
            <a:ext cx="6684264" cy="377531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1828800"/>
            <a:ext cx="3611880" cy="4177654"/>
          </a:xfrm>
          <a:prstGeom prst="roundRect">
            <a:avLst>
              <a:gd name="adj" fmla="val 202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93608" y="2121408"/>
            <a:ext cx="3026664" cy="294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still shows the highest departmental flight risk (54.04), and the turnover treemap makes the mix visible at a glance — voluntary exits from better offers and disengagement dwarf every involuntary category combined.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93608" y="5137774"/>
            <a:ext cx="3026664" cy="0"/>
          </a:xfrm>
          <a:prstGeom prst="line">
            <a:avLst/>
          </a:prstGeom>
          <a:noFill/>
          <a:ln w="12700">
            <a:solidFill>
              <a:srgbClr val="3439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93608" y="5256646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5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53.4–54.0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93608" y="5640694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risk band spanning every department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Workforce Turnaround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 to stabilize the workforce.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02152" cy="4480560"/>
          </a:xfrm>
          <a:prstGeom prst="roundRect">
            <a:avLst>
              <a:gd name="adj" fmla="val 2089"/>
            </a:avLst>
          </a:prstGeom>
          <a:solidFill>
            <a:srgbClr val="161C4D"/>
          </a:solidFill>
          <a:ln w="12700">
            <a:solidFill>
              <a:srgbClr val="34397A"/>
            </a:solidFill>
            <a:prstDash val="solid"/>
          </a:ln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85623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43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pic>
        <p:nvPicPr>
          <p:cNvPr id="5" name="Image 0" descr="/home/claude/icons/userGear_E8531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3552" y="189280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14600"/>
            <a:ext cx="2953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 Accountability Program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3383280"/>
            <a:ext cx="295351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or replace the 14.8% of managers whose teams show elevated attrition. Tie manager scorecards directly to retention outcomes, not just output.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25112" y="1600200"/>
            <a:ext cx="3502152" cy="4480560"/>
          </a:xfrm>
          <a:prstGeom prst="roundRect">
            <a:avLst>
              <a:gd name="adj" fmla="val 2089"/>
            </a:avLst>
          </a:prstGeom>
          <a:solidFill>
            <a:srgbClr val="161C4D"/>
          </a:solidFill>
          <a:ln w="12700">
            <a:solidFill>
              <a:srgbClr val="34397A"/>
            </a:solidFill>
            <a:prstDash val="solid"/>
          </a:ln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99432" y="185623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43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pic>
        <p:nvPicPr>
          <p:cNvPr id="10" name="Image 1" descr="/home/claude/icons/scaleBalanced_E8531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189280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9432" y="2514600"/>
            <a:ext cx="2953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Pay Gap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599432" y="3383280"/>
            <a:ext cx="295351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quarterly comp-vs-market benchmarking for high-risk departments — starting with HR and Operations — to neutralize the strongest predictor of attrition.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01584" y="1600200"/>
            <a:ext cx="3502152" cy="4480560"/>
          </a:xfrm>
          <a:prstGeom prst="roundRect">
            <a:avLst>
              <a:gd name="adj" fmla="val 2089"/>
            </a:avLst>
          </a:prstGeom>
          <a:solidFill>
            <a:srgbClr val="161C4D"/>
          </a:solidFill>
          <a:ln w="12700">
            <a:solidFill>
              <a:srgbClr val="34397A"/>
            </a:solidFill>
            <a:prstDash val="solid"/>
          </a:ln>
          <a:effectLst>
            <a:outerShdw sx="100000" sy="100000" kx="0" ky="0" algn="bl" rotWithShape="0" blurRad="88900" dist="25400" dir="5400000">
              <a:srgbClr val="141833">
                <a:alpha val="16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375904" y="185623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43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pic>
        <p:nvPicPr>
          <p:cNvPr id="15" name="Image 2" descr="/home/claude/icons/arrowRightArrowLeft_E8531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496" y="189280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75904" y="2514600"/>
            <a:ext cx="2953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 Time-to-Fill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375904" y="3383280"/>
            <a:ext cx="295351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the recruiting pipeline to cut the 96-day average fill time toward a 45-day benchmark, reducing vacancy cost and hiring-manager burnout.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Workforce Turnaround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4712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120640" cy="512064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3" name="Shape 1"/>
          <p:cNvSpPr/>
          <p:nvPr/>
        </p:nvSpPr>
        <p:spPr>
          <a:xfrm>
            <a:off x="5257800" y="1920240"/>
            <a:ext cx="1645920" cy="1645920"/>
          </a:xfrm>
          <a:prstGeom prst="ellipse">
            <a:avLst/>
          </a:prstGeom>
          <a:solidFill>
            <a:srgbClr val="2B3574"/>
          </a:solidFill>
          <a:ln/>
        </p:spPr>
      </p:sp>
      <p:pic>
        <p:nvPicPr>
          <p:cNvPr id="4" name="Image 0" descr="/home/claude/icons/handshake_E8531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8132" y="2290572"/>
            <a:ext cx="905256" cy="905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7947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4617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2026-07-10T20:43:07Z</dcterms:created>
  <dcterms:modified xsi:type="dcterms:W3CDTF">2026-07-10T20:43:07Z</dcterms:modified>
</cp:coreProperties>
</file>